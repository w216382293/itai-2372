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2056019" y="-1222724"/>
            <a:ext cx="5032058" cy="5032058"/>
          </a:xfrm>
          <a:prstGeom prst="ellipse">
            <a:avLst/>
          </a:prstGeom>
          <a:solidFill>
            <a:srgbClr val="000000">
              <a:alpha val="6000"/>
            </a:srgbClr>
          </a:solidFill>
          <a:ln/>
        </p:spPr>
      </p:sp>
      <p:sp>
        <p:nvSpPr>
          <p:cNvPr id="3" name="Title"/>
          <p:cNvSpPr/>
          <p:nvPr/>
        </p:nvSpPr>
        <p:spPr>
          <a:xfrm>
            <a:off x="758381" y="2122408"/>
            <a:ext cx="7620000" cy="10121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3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AI in Healthcare: IBM Watson for Oncology</a:t>
            </a:r>
            <a:endParaRPr lang="en-US" sz="3135" dirty="0"/>
          </a:p>
        </p:txBody>
      </p:sp>
      <p:sp>
        <p:nvSpPr>
          <p:cNvPr id="4" name="StaticPath"/>
          <p:cNvSpPr/>
          <p:nvPr/>
        </p:nvSpPr>
        <p:spPr>
          <a:xfrm>
            <a:off x="7190137" y="3357658"/>
            <a:ext cx="2394585" cy="239458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5" name="StaticPath"/>
          <p:cNvSpPr/>
          <p:nvPr/>
        </p:nvSpPr>
        <p:spPr>
          <a:xfrm>
            <a:off x="-957929" y="-1222724"/>
            <a:ext cx="1991678" cy="1991677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6" name="StaticPath"/>
          <p:cNvSpPr/>
          <p:nvPr/>
        </p:nvSpPr>
        <p:spPr>
          <a:xfrm>
            <a:off x="303609" y="4340114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7" name="StaticPath"/>
          <p:cNvSpPr/>
          <p:nvPr/>
        </p:nvSpPr>
        <p:spPr>
          <a:xfrm>
            <a:off x="939165" y="4348163"/>
            <a:ext cx="571500" cy="571500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8" name="StaticPath"/>
          <p:cNvSpPr/>
          <p:nvPr/>
        </p:nvSpPr>
        <p:spPr>
          <a:xfrm>
            <a:off x="620268" y="4338923"/>
            <a:ext cx="571500" cy="571500"/>
          </a:xfrm>
          <a:prstGeom prst="ellipse">
            <a:avLst/>
          </a:prstGeom>
          <a:solidFill>
            <a:srgbClr val="FF98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3852767" y="169640"/>
            <a:ext cx="3157538" cy="315753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" name="StaticPath"/>
          <p:cNvSpPr/>
          <p:nvPr/>
        </p:nvSpPr>
        <p:spPr>
          <a:xfrm>
            <a:off x="3906869" y="-1913049"/>
            <a:ext cx="2428875" cy="2428875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4" name="Title"/>
          <p:cNvSpPr/>
          <p:nvPr/>
        </p:nvSpPr>
        <p:spPr>
          <a:xfrm>
            <a:off x="4304062" y="1697879"/>
            <a:ext cx="2302794" cy="2776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79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AI Application Overview</a:t>
            </a:r>
            <a:endParaRPr lang="en-US" sz="2579" dirty="0"/>
          </a:p>
        </p:txBody>
      </p:sp>
      <p:sp>
        <p:nvSpPr>
          <p:cNvPr id="5" name="Bullet circle 1"/>
          <p:cNvSpPr/>
          <p:nvPr/>
        </p:nvSpPr>
        <p:spPr>
          <a:xfrm>
            <a:off x="347662" y="857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Bullet index 1"/>
          <p:cNvSpPr/>
          <p:nvPr/>
        </p:nvSpPr>
        <p:spPr>
          <a:xfrm>
            <a:off x="879634" y="966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01</a:t>
            </a:r>
            <a:endParaRPr lang="en-US" sz="1493" dirty="0"/>
          </a:p>
        </p:txBody>
      </p:sp>
      <p:sp>
        <p:nvSpPr>
          <p:cNvPr id="7" name="Bullet text 1"/>
          <p:cNvSpPr/>
          <p:nvPr/>
        </p:nvSpPr>
        <p:spPr>
          <a:xfrm>
            <a:off x="1388221" y="966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IBM Watson for Oncology uses AI for cancer diagnosis and treatment recommendations.</a:t>
            </a:r>
            <a:endParaRPr lang="en-US" sz="923" dirty="0"/>
          </a:p>
        </p:txBody>
      </p:sp>
      <p:sp>
        <p:nvSpPr>
          <p:cNvPr id="8" name="Bullet circle 2"/>
          <p:cNvSpPr/>
          <p:nvPr/>
        </p:nvSpPr>
        <p:spPr>
          <a:xfrm>
            <a:off x="347662" y="1619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9" name="Bullet index 2"/>
          <p:cNvSpPr/>
          <p:nvPr/>
        </p:nvSpPr>
        <p:spPr>
          <a:xfrm>
            <a:off x="879634" y="1728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02</a:t>
            </a:r>
            <a:endParaRPr lang="en-US" sz="1493" dirty="0"/>
          </a:p>
        </p:txBody>
      </p:sp>
      <p:sp>
        <p:nvSpPr>
          <p:cNvPr id="10" name="Bullet text 2"/>
          <p:cNvSpPr/>
          <p:nvPr/>
        </p:nvSpPr>
        <p:spPr>
          <a:xfrm>
            <a:off x="1388221" y="1728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Utilizes natural language processing (NLP) and machine learning.</a:t>
            </a:r>
            <a:endParaRPr lang="en-US" sz="923" dirty="0"/>
          </a:p>
        </p:txBody>
      </p:sp>
      <p:sp>
        <p:nvSpPr>
          <p:cNvPr id="11" name="Bullet circle 3"/>
          <p:cNvSpPr/>
          <p:nvPr/>
        </p:nvSpPr>
        <p:spPr>
          <a:xfrm>
            <a:off x="347662" y="2381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2" name="Bullet index 3"/>
          <p:cNvSpPr/>
          <p:nvPr/>
        </p:nvSpPr>
        <p:spPr>
          <a:xfrm>
            <a:off x="879634" y="2490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03</a:t>
            </a:r>
            <a:endParaRPr lang="en-US" sz="1493" dirty="0"/>
          </a:p>
        </p:txBody>
      </p:sp>
      <p:sp>
        <p:nvSpPr>
          <p:cNvPr id="13" name="Bullet text 3"/>
          <p:cNvSpPr/>
          <p:nvPr/>
        </p:nvSpPr>
        <p:spPr>
          <a:xfrm>
            <a:off x="1388221" y="2490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Processes vast medical data, including patient records and research papers.</a:t>
            </a:r>
            <a:endParaRPr lang="en-US" sz="923" dirty="0"/>
          </a:p>
        </p:txBody>
      </p:sp>
      <p:sp>
        <p:nvSpPr>
          <p:cNvPr id="14" name="Bullet circle 4"/>
          <p:cNvSpPr/>
          <p:nvPr/>
        </p:nvSpPr>
        <p:spPr>
          <a:xfrm>
            <a:off x="347662" y="3143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5" name="Bullet index 4"/>
          <p:cNvSpPr/>
          <p:nvPr/>
        </p:nvSpPr>
        <p:spPr>
          <a:xfrm>
            <a:off x="879634" y="3252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04</a:t>
            </a:r>
            <a:endParaRPr lang="en-US" sz="1493" dirty="0"/>
          </a:p>
        </p:txBody>
      </p:sp>
      <p:sp>
        <p:nvSpPr>
          <p:cNvPr id="16" name="Bullet text 4"/>
          <p:cNvSpPr/>
          <p:nvPr/>
        </p:nvSpPr>
        <p:spPr>
          <a:xfrm>
            <a:off x="1388221" y="3252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Ranks treatment options based on confidence scores.</a:t>
            </a:r>
            <a:endParaRPr lang="en-US" sz="923" dirty="0"/>
          </a:p>
        </p:txBody>
      </p:sp>
      <p:sp>
        <p:nvSpPr>
          <p:cNvPr id="17" name="Bullet circle 5"/>
          <p:cNvSpPr/>
          <p:nvPr/>
        </p:nvSpPr>
        <p:spPr>
          <a:xfrm>
            <a:off x="347662" y="3905250"/>
            <a:ext cx="474345" cy="474345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18" name="Bullet index 5"/>
          <p:cNvSpPr/>
          <p:nvPr/>
        </p:nvSpPr>
        <p:spPr>
          <a:xfrm>
            <a:off x="879634" y="4014788"/>
            <a:ext cx="475726" cy="2410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93" b="1" dirty="0">
                <a:solidFill>
                  <a:srgbClr val="333333"/>
                </a:solidFill>
                <a:latin typeface="Prompt-Bold" pitchFamily="34" charset="0"/>
                <a:ea typeface="Prompt-Bold" pitchFamily="34" charset="-122"/>
                <a:cs typeface="Prompt-Bold" pitchFamily="34" charset="-120"/>
              </a:rPr>
              <a:t>05</a:t>
            </a:r>
            <a:endParaRPr lang="en-US" sz="1493" dirty="0"/>
          </a:p>
        </p:txBody>
      </p:sp>
      <p:sp>
        <p:nvSpPr>
          <p:cNvPr id="19" name="Bullet text 5"/>
          <p:cNvSpPr/>
          <p:nvPr/>
        </p:nvSpPr>
        <p:spPr>
          <a:xfrm>
            <a:off x="1388221" y="4014788"/>
            <a:ext cx="2525268" cy="2497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3" dirty="0">
                <a:solidFill>
                  <a:srgbClr val="333333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Enhances oncologists' decision-making and improves treatment accuracy.</a:t>
            </a:r>
            <a:endParaRPr lang="en-US" sz="923" dirty="0"/>
          </a:p>
        </p:txBody>
      </p:sp>
      <p:pic>
        <p:nvPicPr>
          <p:cNvPr id="2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9916" y="2586085"/>
            <a:ext cx="2383631" cy="23836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24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Implementation of IBM Watson for Oncology</a:t>
            </a:r>
            <a:endParaRPr lang="en-US" sz="1624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Collaboration with Memorial Sloan Kettering</a:t>
            </a:r>
            <a:endParaRPr lang="en-US" sz="1105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2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IBM Watson for Oncology was developed in partnership with Memorial Sloan Kettering Cancer Center to integrate AI into cancer treatment planning.</a:t>
            </a:r>
            <a:endParaRPr lang="en-US" sz="1226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Integration with EHR Systems</a:t>
            </a:r>
            <a:endParaRPr lang="en-US" sz="1105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2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AI system was deployed in hospitals worldwide, integrating with electronic health record (EHR) systems to analyze patient data and recommend treatments.</a:t>
            </a:r>
            <a:endParaRPr lang="en-US" sz="1226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5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Decision-Support for Oncologists</a:t>
            </a:r>
            <a:endParaRPr lang="en-US" sz="1105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2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Provides ranked treatment options based on extensive clinical data, reducing the time required for oncologists to make informed decisions.</a:t>
            </a:r>
            <a:endParaRPr lang="en-US" sz="1226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476500" cy="2476500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Benefits of AI in Oncology</a:t>
            </a:r>
            <a:endParaRPr lang="en-US" sz="190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Enhanced Decision-Making</a:t>
            </a:r>
            <a:endParaRPr lang="en-US" sz="1353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AI helps oncologists make informed, evidence-based treatment decisions, reducing the chances of errors.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Efficiency Gains</a:t>
            </a:r>
            <a:endParaRPr lang="en-US" sz="1353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Watson for Oncology reduces the time needed for research, enabling faster treatment recommendations.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3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Global Access to Expertise</a:t>
            </a:r>
            <a:endParaRPr lang="en-US" sz="1353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Provides AI-powered treatment support in regions with limited access to specialized cancer care.</a:t>
            </a:r>
            <a:endParaRPr lang="en-US" sz="1367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476500" cy="2476500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68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Challenges in AI Implementation</a:t>
            </a:r>
            <a:endParaRPr lang="en-US" sz="1868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Data Limitations</a:t>
            </a:r>
            <a:endParaRPr lang="en-US" sz="1500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AI relies on available medical data, which may be incomplete or biased, impacting treatment accuracy.</a:t>
            </a:r>
            <a:endParaRPr lang="en-US" sz="1359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Integration Issues</a:t>
            </a:r>
            <a:endParaRPr lang="en-US" sz="1500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Compatibility with existing hospital electronic health record (EHR) systems presents challenges for seamless AI adoption.</a:t>
            </a:r>
            <a:endParaRPr lang="en-US" sz="1359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Cost Constraints</a:t>
            </a:r>
            <a:endParaRPr lang="en-US" sz="1500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high cost of AI technology limits accessibility, especially in low-resource healthcare settings.</a:t>
            </a:r>
            <a:endParaRPr lang="en-US" sz="1359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476500" cy="2476500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10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Ethical and Societal Implications</a:t>
            </a:r>
            <a:endParaRPr lang="en-US" sz="1810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Bias and Fairness</a:t>
            </a:r>
            <a:endParaRPr lang="en-US" sz="1327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AI training data may not be fully representative, leading to biased treatment recommendations, especially for underrepresented populations.</a:t>
            </a:r>
            <a:endParaRPr lang="en-US" sz="1329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Accountability Concerns</a:t>
            </a:r>
            <a:endParaRPr lang="en-US" sz="1327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Determining responsibility for AI-driven misdiagnoses remains a legal and ethical challenge.</a:t>
            </a:r>
            <a:endParaRPr lang="en-US" sz="1329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7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Impact on Healthcare Inequality</a:t>
            </a:r>
            <a:endParaRPr lang="en-US" sz="1327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29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AI systems may widen disparities if only wealthier hospitals can afford advanced medical AI tools.</a:t>
            </a:r>
            <a:endParaRPr lang="en-US" sz="1329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476500" cy="2476500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7143750" y="0"/>
            <a:ext cx="2000250" cy="5143500"/>
          </a:xfrm>
          <a:prstGeom prst="rect">
            <a:avLst/>
          </a:prstGeom>
          <a:solidFill>
            <a:srgbClr val="FF9800"/>
          </a:solidFill>
          <a:ln/>
        </p:spPr>
      </p:sp>
      <p:sp>
        <p:nvSpPr>
          <p:cNvPr id="3" name="Title"/>
          <p:cNvSpPr/>
          <p:nvPr/>
        </p:nvSpPr>
        <p:spPr>
          <a:xfrm>
            <a:off x="1190625" y="357188"/>
            <a:ext cx="5715000" cy="571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58" b="1" dirty="0">
                <a:solidFill>
                  <a:srgbClr val="333333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Future Directions of AI in Oncology</a:t>
            </a:r>
            <a:endParaRPr lang="en-US" sz="1758" dirty="0"/>
          </a:p>
        </p:txBody>
      </p:sp>
      <p:sp>
        <p:nvSpPr>
          <p:cNvPr id="4" name="Subtitle 1"/>
          <p:cNvSpPr/>
          <p:nvPr/>
        </p:nvSpPr>
        <p:spPr>
          <a:xfrm>
            <a:off x="714375" y="1190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8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Explainable AI (XAI)</a:t>
            </a:r>
            <a:endParaRPr lang="en-US" sz="1338" dirty="0"/>
          </a:p>
        </p:txBody>
      </p:sp>
      <p:sp>
        <p:nvSpPr>
          <p:cNvPr id="5" name="Paragraph 1"/>
          <p:cNvSpPr/>
          <p:nvPr/>
        </p:nvSpPr>
        <p:spPr>
          <a:xfrm>
            <a:off x="714375" y="15716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Developing more transparent AI models to allow physicians to better understand AI-driven recommendations.</a:t>
            </a:r>
            <a:endParaRPr lang="en-US" sz="1367" dirty="0"/>
          </a:p>
        </p:txBody>
      </p:sp>
      <p:sp>
        <p:nvSpPr>
          <p:cNvPr id="6" name="Subtitle 2"/>
          <p:cNvSpPr/>
          <p:nvPr/>
        </p:nvSpPr>
        <p:spPr>
          <a:xfrm>
            <a:off x="714375" y="2524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8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Integration with Genomic Data</a:t>
            </a:r>
            <a:endParaRPr lang="en-US" sz="1338" dirty="0"/>
          </a:p>
        </p:txBody>
      </p:sp>
      <p:sp>
        <p:nvSpPr>
          <p:cNvPr id="7" name="Paragraph 2"/>
          <p:cNvSpPr/>
          <p:nvPr/>
        </p:nvSpPr>
        <p:spPr>
          <a:xfrm>
            <a:off x="714375" y="2905125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Advancing AI-driven personalized medicine by incorporating genetic sequencing for targeted cancer treatments.</a:t>
            </a:r>
            <a:endParaRPr lang="en-US" sz="1367" dirty="0"/>
          </a:p>
        </p:txBody>
      </p:sp>
      <p:sp>
        <p:nvSpPr>
          <p:cNvPr id="8" name="Subtitle 3"/>
          <p:cNvSpPr/>
          <p:nvPr/>
        </p:nvSpPr>
        <p:spPr>
          <a:xfrm>
            <a:off x="714375" y="3619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38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Regulatory Frameworks</a:t>
            </a:r>
            <a:endParaRPr lang="en-US" sz="1338" dirty="0"/>
          </a:p>
        </p:txBody>
      </p:sp>
      <p:sp>
        <p:nvSpPr>
          <p:cNvPr id="9" name="Paragraph 3"/>
          <p:cNvSpPr/>
          <p:nvPr/>
        </p:nvSpPr>
        <p:spPr>
          <a:xfrm>
            <a:off x="714375" y="4000500"/>
            <a:ext cx="5238750" cy="1428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Establishing clearer guidelines and regulations to ensure AI in healthcare meets safety and ethical standards.</a:t>
            </a:r>
            <a:endParaRPr lang="en-US" sz="1367" dirty="0"/>
          </a:p>
        </p:txBody>
      </p:sp>
      <p:pic>
        <p:nvPicPr>
          <p:cNvPr id="10" name="Imag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8875" y="1333500"/>
            <a:ext cx="2476500" cy="2476500"/>
          </a:xfrm>
          <a:prstGeom prst="rect">
            <a:avLst/>
          </a:prstGeom>
        </p:spPr>
      </p:pic>
      <p:sp>
        <p:nvSpPr>
          <p:cNvPr id="11" name="StaticPath"/>
          <p:cNvSpPr/>
          <p:nvPr/>
        </p:nvSpPr>
        <p:spPr>
          <a:xfrm>
            <a:off x="-1309687" y="3810000"/>
            <a:ext cx="1737360" cy="1737360"/>
          </a:xfrm>
          <a:prstGeom prst="ellipse">
            <a:avLst/>
          </a:prstGeom>
          <a:solidFill>
            <a:srgbClr val="000000">
              <a:alpha val="0"/>
            </a:srgbClr>
          </a:solidFill>
          <a:ln w="211667">
            <a:solidFill>
              <a:srgbClr val="FF9800"/>
            </a:solidFill>
            <a:prstDash val="solid"/>
          </a:ln>
        </p:spPr>
      </p:sp>
      <p:sp>
        <p:nvSpPr>
          <p:cNvPr id="12" name="StaticPath"/>
          <p:cNvSpPr/>
          <p:nvPr/>
        </p:nvSpPr>
        <p:spPr>
          <a:xfrm>
            <a:off x="285750" y="204788"/>
            <a:ext cx="482918" cy="482917"/>
          </a:xfrm>
          <a:prstGeom prst="ellipse">
            <a:avLst/>
          </a:prstGeom>
          <a:solidFill>
            <a:srgbClr val="000000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icPath"/>
          <p:cNvSpPr/>
          <p:nvPr/>
        </p:nvSpPr>
        <p:spPr>
          <a:xfrm>
            <a:off x="-842581" y="437150"/>
            <a:ext cx="4014788" cy="4014788"/>
          </a:xfrm>
          <a:prstGeom prst="ellipse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" name="Title"/>
          <p:cNvSpPr/>
          <p:nvPr/>
        </p:nvSpPr>
        <p:spPr>
          <a:xfrm>
            <a:off x="285417" y="2160080"/>
            <a:ext cx="3467148" cy="823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562" b="1" dirty="0">
                <a:solidFill>
                  <a:srgbClr val="000000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Conclusion</a:t>
            </a:r>
            <a:endParaRPr lang="en-US" sz="4562" dirty="0"/>
          </a:p>
        </p:txBody>
      </p:sp>
      <p:sp>
        <p:nvSpPr>
          <p:cNvPr id="4" name="StaticPath"/>
          <p:cNvSpPr/>
          <p:nvPr/>
        </p:nvSpPr>
        <p:spPr>
          <a:xfrm>
            <a:off x="6677739" y="195072"/>
            <a:ext cx="911543" cy="911543"/>
          </a:xfrm>
          <a:prstGeom prst="ellipse">
            <a:avLst/>
          </a:prstGeom>
          <a:solidFill>
            <a:srgbClr val="000000"/>
          </a:solidFill>
          <a:ln/>
        </p:spPr>
      </p:sp>
      <p:sp>
        <p:nvSpPr>
          <p:cNvPr id="5" name="StaticPath"/>
          <p:cNvSpPr/>
          <p:nvPr/>
        </p:nvSpPr>
        <p:spPr>
          <a:xfrm>
            <a:off x="7963376" y="4002548"/>
            <a:ext cx="677228" cy="677228"/>
          </a:xfrm>
          <a:prstGeom prst="ellipse">
            <a:avLst/>
          </a:prstGeom>
          <a:solidFill>
            <a:srgbClr val="FF9800"/>
          </a:solidFill>
          <a:ln/>
        </p:spPr>
      </p:sp>
      <p:sp>
        <p:nvSpPr>
          <p:cNvPr id="6" name="StaticPath"/>
          <p:cNvSpPr/>
          <p:nvPr/>
        </p:nvSpPr>
        <p:spPr>
          <a:xfrm>
            <a:off x="-1162717" y="-991076"/>
            <a:ext cx="2514600" cy="2514600"/>
          </a:xfrm>
          <a:prstGeom prst="ellipse">
            <a:avLst/>
          </a:prstGeom>
          <a:solidFill>
            <a:srgbClr val="000000">
              <a:alpha val="0"/>
            </a:srgbClr>
          </a:solidFill>
          <a:ln w="423333">
            <a:solidFill>
              <a:srgbClr val="FF9800"/>
            </a:solidFill>
            <a:prstDash val="solid"/>
          </a:ln>
        </p:spPr>
      </p:sp>
      <p:sp>
        <p:nvSpPr>
          <p:cNvPr id="7" name="Question topic"/>
          <p:cNvSpPr/>
          <p:nvPr/>
        </p:nvSpPr>
        <p:spPr>
          <a:xfrm>
            <a:off x="2950607" y="689991"/>
            <a:ext cx="2286000" cy="3013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70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The Future of AI in Medicine</a:t>
            </a:r>
            <a:endParaRPr lang="en-US" sz="1170" dirty="0"/>
          </a:p>
        </p:txBody>
      </p:sp>
      <p:sp>
        <p:nvSpPr>
          <p:cNvPr id="8" name="Text"/>
          <p:cNvSpPr/>
          <p:nvPr/>
        </p:nvSpPr>
        <p:spPr>
          <a:xfrm>
            <a:off x="5193649" y="2192369"/>
            <a:ext cx="2810589" cy="1431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96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IBM Watson for Oncology has demonstrated AI's potential in revolutionizing cancer treatment. However, challenges in ethics, integration, and accessibility must be addressed to ensure AI enhances healthcare for all.</a:t>
            </a:r>
            <a:endParaRPr lang="en-US" sz="896" dirty="0"/>
          </a:p>
        </p:txBody>
      </p:sp>
      <p:sp>
        <p:nvSpPr>
          <p:cNvPr id="9" name="Question"/>
          <p:cNvSpPr/>
          <p:nvPr/>
        </p:nvSpPr>
        <p:spPr>
          <a:xfrm>
            <a:off x="5408343" y="1518428"/>
            <a:ext cx="2381250" cy="2583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7" dirty="0">
                <a:solidFill>
                  <a:srgbClr val="000000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How can AI in healthcare balance technological advancement with ethical responsibility?</a:t>
            </a:r>
            <a:endParaRPr lang="en-US" sz="767" dirty="0"/>
          </a:p>
        </p:txBody>
      </p:sp>
      <p:sp>
        <p:nvSpPr>
          <p:cNvPr id="10" name="StaticPath"/>
          <p:cNvSpPr/>
          <p:nvPr/>
        </p:nvSpPr>
        <p:spPr>
          <a:xfrm>
            <a:off x="2976229" y="323231"/>
            <a:ext cx="2128838" cy="1020128"/>
          </a:xfrm>
          <a:prstGeom prst="ellipse">
            <a:avLst/>
          </a:prstGeom>
          <a:solidFill>
            <a:srgbClr val="000000">
              <a:alpha val="0"/>
            </a:srgbClr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2025-03-02T01:14:31Z</dcterms:created>
  <dcterms:modified xsi:type="dcterms:W3CDTF">2025-03-02T01:14:31Z</dcterms:modified>
</cp:coreProperties>
</file>